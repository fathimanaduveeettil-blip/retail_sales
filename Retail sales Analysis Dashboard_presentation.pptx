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6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26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4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4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12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16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35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06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1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47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919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4780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938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8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28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7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99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6833F-63D0-45A9-9E1F-B3CD87669F6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665E-07F6-47AD-A87D-6BFAA27A17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72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AD71-4288-D98E-16AC-9FA05EF097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7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etail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7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 Analysis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472AB-61E0-44AF-2B46-04B635C93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866967"/>
            <a:ext cx="4642363" cy="868669"/>
          </a:xfrm>
        </p:spPr>
        <p:txBody>
          <a:bodyPr>
            <a:normAutofit fontScale="92500" lnSpcReduction="10000"/>
          </a:bodyPr>
          <a:lstStyle/>
          <a:p>
            <a:r>
              <a:rPr lang="en-US" cap="none" dirty="0"/>
              <a:t>Presented By :</a:t>
            </a:r>
          </a:p>
          <a:p>
            <a:r>
              <a:rPr lang="en-US" cap="none" dirty="0"/>
              <a:t>Fathima </a:t>
            </a:r>
            <a:r>
              <a:rPr lang="en-US" cap="none" dirty="0" err="1"/>
              <a:t>Fidha</a:t>
            </a:r>
            <a:r>
              <a:rPr lang="en-US" cap="none" dirty="0"/>
              <a:t> Nv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03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A2E7-88BE-E422-67DE-14FDED79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55" y="540774"/>
            <a:ext cx="4620293" cy="914400"/>
          </a:xfrm>
        </p:spPr>
        <p:txBody>
          <a:bodyPr>
            <a:normAutofit/>
          </a:bodyPr>
          <a:lstStyle/>
          <a:p>
            <a:r>
              <a:rPr lang="en-IN" sz="4800" b="1" cap="none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CA18C-1C30-BA7D-69F8-B4587E2B7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364" y="1592826"/>
            <a:ext cx="10794997" cy="4205473"/>
          </a:xfrm>
        </p:spPr>
        <p:txBody>
          <a:bodyPr>
            <a:normAutofit/>
          </a:bodyPr>
          <a:lstStyle/>
          <a:p>
            <a:r>
              <a:rPr lang="en-IN" sz="3200" b="1" dirty="0"/>
              <a:t>Dataset Overview                      Data Cleaning Performed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5F6FF-ADC2-0002-A6AB-CA9ADEC24282}"/>
              </a:ext>
            </a:extLst>
          </p:cNvPr>
          <p:cNvSpPr txBox="1"/>
          <p:nvPr/>
        </p:nvSpPr>
        <p:spPr>
          <a:xfrm>
            <a:off x="6744929" y="2604926"/>
            <a:ext cx="45621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Removed duplicate records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Standardized date formats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Converted Sales and Profit columns to numeric values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Handled missing values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Created Year and Month fields for analysis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70E6D-18BD-FF02-A2A5-1D63D7EE534C}"/>
              </a:ext>
            </a:extLst>
          </p:cNvPr>
          <p:cNvSpPr txBox="1"/>
          <p:nvPr/>
        </p:nvSpPr>
        <p:spPr>
          <a:xfrm>
            <a:off x="1396181" y="2699266"/>
            <a:ext cx="48571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Retail sales dataset containing 80,000+ records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Includes customer, product, sales, profit, region, category and order information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cleaned and prepared for analysis.</a:t>
            </a:r>
          </a:p>
        </p:txBody>
      </p:sp>
    </p:spTree>
    <p:extLst>
      <p:ext uri="{BB962C8B-B14F-4D97-AF65-F5344CB8AC3E}">
        <p14:creationId xmlns:p14="http://schemas.microsoft.com/office/powerpoint/2010/main" val="299677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B48B-B25F-51AA-7F0A-D1756210A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cap="none" dirty="0"/>
              <a:t>Dashboard Features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F8FEAA-CF06-DA50-D4F6-613EB7036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154" y="455397"/>
            <a:ext cx="5891213" cy="2798169"/>
          </a:xfrm>
          <a:prstGeom prst="rect">
            <a:avLst/>
          </a:prstGeom>
        </p:spPr>
      </p:pic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B0CB1A73-7C78-29C1-5D4C-C46BA473A49C}"/>
              </a:ext>
            </a:extLst>
          </p:cNvPr>
          <p:cNvSpPr/>
          <p:nvPr/>
        </p:nvSpPr>
        <p:spPr>
          <a:xfrm>
            <a:off x="934065" y="2377305"/>
            <a:ext cx="1966452" cy="1179515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KPI Tracking</a:t>
            </a:r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9B0905F1-DCD5-F0EB-190C-95C9614ECF8C}"/>
              </a:ext>
            </a:extLst>
          </p:cNvPr>
          <p:cNvSpPr/>
          <p:nvPr/>
        </p:nvSpPr>
        <p:spPr>
          <a:xfrm>
            <a:off x="1553497" y="3812815"/>
            <a:ext cx="1966452" cy="1179515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Interactive Filters</a:t>
            </a:r>
          </a:p>
        </p:txBody>
      </p:sp>
      <p:sp>
        <p:nvSpPr>
          <p:cNvPr id="13" name="Rectangle: Single Corner Rounded 12">
            <a:extLst>
              <a:ext uri="{FF2B5EF4-FFF2-40B4-BE49-F238E27FC236}">
                <a16:creationId xmlns:a16="http://schemas.microsoft.com/office/drawing/2014/main" id="{090E9DFB-8F3E-49EF-2DDD-15200576C3B6}"/>
              </a:ext>
            </a:extLst>
          </p:cNvPr>
          <p:cNvSpPr/>
          <p:nvPr/>
        </p:nvSpPr>
        <p:spPr>
          <a:xfrm>
            <a:off x="3074723" y="5368413"/>
            <a:ext cx="2146206" cy="1278193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Customer Analysis</a:t>
            </a:r>
          </a:p>
        </p:txBody>
      </p:sp>
      <p:sp>
        <p:nvSpPr>
          <p:cNvPr id="14" name="Rectangle: Single Corner Rounded 13">
            <a:extLst>
              <a:ext uri="{FF2B5EF4-FFF2-40B4-BE49-F238E27FC236}">
                <a16:creationId xmlns:a16="http://schemas.microsoft.com/office/drawing/2014/main" id="{DF7AE547-F465-1DC3-551A-59F299A02DEB}"/>
              </a:ext>
            </a:extLst>
          </p:cNvPr>
          <p:cNvSpPr/>
          <p:nvPr/>
        </p:nvSpPr>
        <p:spPr>
          <a:xfrm>
            <a:off x="5220929" y="3687097"/>
            <a:ext cx="2146206" cy="1278193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Regional Analysis</a:t>
            </a:r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24238AEE-CBF2-71FC-0A6F-9A80F1F7B298}"/>
              </a:ext>
            </a:extLst>
          </p:cNvPr>
          <p:cNvSpPr/>
          <p:nvPr/>
        </p:nvSpPr>
        <p:spPr>
          <a:xfrm>
            <a:off x="7914968" y="5063613"/>
            <a:ext cx="2146206" cy="1435510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Sales Trend Analysis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9559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BE0D-61BF-88DF-625F-C50BE949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KPI </a:t>
            </a:r>
            <a:r>
              <a:rPr lang="en-US" sz="6000" cap="none" dirty="0"/>
              <a:t>Summary</a:t>
            </a:r>
            <a:br>
              <a:rPr lang="en-US" cap="none" dirty="0"/>
            </a:br>
            <a:r>
              <a:rPr lang="en-IN" sz="2000" b="1" dirty="0"/>
              <a:t>Key Performance Indicators</a:t>
            </a:r>
            <a:endParaRPr lang="en-IN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101A6-B659-6181-4C11-45239902C447}"/>
              </a:ext>
            </a:extLst>
          </p:cNvPr>
          <p:cNvSpPr/>
          <p:nvPr/>
        </p:nvSpPr>
        <p:spPr>
          <a:xfrm>
            <a:off x="1415844" y="2310581"/>
            <a:ext cx="2369575" cy="14785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Orders</a:t>
            </a:r>
          </a:p>
          <a:p>
            <a:pPr algn="ctr"/>
            <a:r>
              <a:rPr lang="en-IN" sz="2000" dirty="0"/>
              <a:t>80000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AEA51-1F85-E0C5-8BEB-DCBDF71D7B6A}"/>
              </a:ext>
            </a:extLst>
          </p:cNvPr>
          <p:cNvSpPr/>
          <p:nvPr/>
        </p:nvSpPr>
        <p:spPr>
          <a:xfrm>
            <a:off x="4493341" y="2310581"/>
            <a:ext cx="2448233" cy="14785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Revenue</a:t>
            </a:r>
          </a:p>
          <a:p>
            <a:pPr algn="ctr"/>
            <a:r>
              <a:rPr lang="en-IN" sz="2000" dirty="0"/>
              <a:t>32.09million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B065C-FB6A-669E-9430-01DCB66E06C3}"/>
              </a:ext>
            </a:extLst>
          </p:cNvPr>
          <p:cNvSpPr/>
          <p:nvPr/>
        </p:nvSpPr>
        <p:spPr>
          <a:xfrm>
            <a:off x="7649496" y="2310581"/>
            <a:ext cx="2448233" cy="14785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Profit</a:t>
            </a:r>
          </a:p>
          <a:p>
            <a:pPr algn="ctr"/>
            <a:r>
              <a:rPr lang="en-IN" sz="2000" dirty="0"/>
              <a:t>9.42 million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5305F6-2FE7-32B4-072F-0039C57A52DE}"/>
              </a:ext>
            </a:extLst>
          </p:cNvPr>
          <p:cNvSpPr/>
          <p:nvPr/>
        </p:nvSpPr>
        <p:spPr>
          <a:xfrm>
            <a:off x="3569110" y="4296697"/>
            <a:ext cx="2526890" cy="14785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Average order value</a:t>
            </a:r>
            <a:endParaRPr lang="en-US" sz="4000" dirty="0"/>
          </a:p>
          <a:p>
            <a:pPr algn="ctr"/>
            <a:r>
              <a:rPr lang="en-IN" dirty="0"/>
              <a:t>401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691D29-0F91-EFF6-29A3-8AD2C14907C8}"/>
              </a:ext>
            </a:extLst>
          </p:cNvPr>
          <p:cNvSpPr/>
          <p:nvPr/>
        </p:nvSpPr>
        <p:spPr>
          <a:xfrm>
            <a:off x="6685934" y="4296697"/>
            <a:ext cx="2526889" cy="14785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Profit margin</a:t>
            </a:r>
          </a:p>
          <a:p>
            <a:pPr algn="ctr"/>
            <a:r>
              <a:rPr lang="en-IN" dirty="0"/>
              <a:t>29.35%</a:t>
            </a:r>
          </a:p>
        </p:txBody>
      </p:sp>
    </p:spTree>
    <p:extLst>
      <p:ext uri="{BB962C8B-B14F-4D97-AF65-F5344CB8AC3E}">
        <p14:creationId xmlns:p14="http://schemas.microsoft.com/office/powerpoint/2010/main" val="342915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6613-FDCB-61F5-F95F-F25472FA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cap="none" dirty="0"/>
              <a:t>Top 5 Insights</a:t>
            </a:r>
            <a:br>
              <a:rPr lang="en-US" sz="6000" cap="none" dirty="0"/>
            </a:br>
            <a:endParaRPr lang="en-IN" sz="6000" cap="non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65AF17-4CDB-6977-F9A7-4BB88B92C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348" y="630831"/>
            <a:ext cx="4133218" cy="279816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922DA-BE80-FD0C-5643-15884377F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4" y="1474839"/>
            <a:ext cx="6335643" cy="5191431"/>
          </a:xfrm>
        </p:spPr>
        <p:txBody>
          <a:bodyPr>
            <a:normAutofit/>
          </a:bodyPr>
          <a:lstStyle/>
          <a:p>
            <a:r>
              <a:rPr lang="en-IN" sz="2800" b="1" dirty="0"/>
              <a:t>Insight 1</a:t>
            </a:r>
          </a:p>
          <a:p>
            <a:r>
              <a:rPr lang="en-IN" sz="2800" b="1" dirty="0"/>
              <a:t>Technology products generated the highest sales revenue among all categories.</a:t>
            </a:r>
          </a:p>
          <a:p>
            <a:r>
              <a:rPr lang="en-IN" sz="2800" b="1" dirty="0"/>
              <a:t>Insight 2</a:t>
            </a:r>
          </a:p>
          <a:p>
            <a:r>
              <a:rPr lang="en-IN" sz="2800" b="1" dirty="0"/>
              <a:t>Sales increased significantly during November and December, indicating strong seasonal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08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76FEE-159E-A748-5AC7-46687EDCC559}"/>
              </a:ext>
            </a:extLst>
          </p:cNvPr>
          <p:cNvSpPr txBox="1"/>
          <p:nvPr/>
        </p:nvSpPr>
        <p:spPr>
          <a:xfrm>
            <a:off x="1848465" y="580103"/>
            <a:ext cx="9212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Insight 3</a:t>
            </a:r>
          </a:p>
          <a:p>
            <a:r>
              <a:rPr lang="en-IN" sz="3200" b="1" dirty="0"/>
              <a:t>Laptops and Smartphones were the highest-performing product subcategories.</a:t>
            </a:r>
          </a:p>
          <a:p>
            <a:r>
              <a:rPr lang="en-IN" sz="3200" b="1" dirty="0"/>
              <a:t>Insight 4</a:t>
            </a:r>
          </a:p>
          <a:p>
            <a:r>
              <a:rPr lang="en-IN" sz="3200" b="1" dirty="0"/>
              <a:t>Sales performance across regions was relatively balanced, reducing dependence on a single market.</a:t>
            </a:r>
          </a:p>
          <a:p>
            <a:r>
              <a:rPr lang="en-IN" sz="3200" b="1" dirty="0"/>
              <a:t>Insight 5</a:t>
            </a:r>
          </a:p>
          <a:p>
            <a:r>
              <a:rPr lang="en-IN" sz="3200" b="1" dirty="0"/>
              <a:t>Revenue was distributed among many customers, reducing customer concentration risk.</a:t>
            </a:r>
          </a:p>
        </p:txBody>
      </p:sp>
    </p:spTree>
    <p:extLst>
      <p:ext uri="{BB962C8B-B14F-4D97-AF65-F5344CB8AC3E}">
        <p14:creationId xmlns:p14="http://schemas.microsoft.com/office/powerpoint/2010/main" val="296940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EAF9-B4B5-A1AD-F5EE-68D18F9B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cap="none" dirty="0"/>
              <a:t>Monthly Sales Trend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6A5832-D5F3-8366-BE2C-A52227CA4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19" y="766917"/>
            <a:ext cx="5014452" cy="38444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98B6-58E4-D63B-3629-67E702CC5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5273760" cy="445611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December consistently records the highest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Sales increase significantly during the final quarter of the year.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Strong seasonal demand pattern observed.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Peak sales occur during holiday shopping periods.</a:t>
            </a:r>
          </a:p>
        </p:txBody>
      </p:sp>
    </p:spTree>
    <p:extLst>
      <p:ext uri="{BB962C8B-B14F-4D97-AF65-F5344CB8AC3E}">
        <p14:creationId xmlns:p14="http://schemas.microsoft.com/office/powerpoint/2010/main" val="176867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4301-F883-F693-96D6-9CA39DEA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cap="none" dirty="0"/>
              <a:t> Category Analysis</a:t>
            </a:r>
            <a:endParaRPr lang="en-IN" sz="5400" cap="non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9815BE-3022-9B24-66A4-A59048854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626" y="936618"/>
            <a:ext cx="4865773" cy="33302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CB23C-8687-485A-1146-995409CD1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5204934" cy="354171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Technology generated the highest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 Furniture was the second-best performing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Electronics products contributed significantly to revenue.</a:t>
            </a:r>
          </a:p>
        </p:txBody>
      </p:sp>
    </p:spTree>
    <p:extLst>
      <p:ext uri="{BB962C8B-B14F-4D97-AF65-F5344CB8AC3E}">
        <p14:creationId xmlns:p14="http://schemas.microsoft.com/office/powerpoint/2010/main" val="4256493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F0E7-28FE-B7F3-977D-A3AD235A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cap="none" dirty="0"/>
              <a:t>Customer Analysis</a:t>
            </a:r>
            <a:endParaRPr lang="en-IN" sz="6000" cap="non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49CD7E-75B8-0EA4-7F87-F58B13243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9601"/>
            <a:ext cx="5201265" cy="36426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5160A-C586-0F9D-13E7-1A7C6421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5"/>
            <a:ext cx="4860805" cy="399891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High-value customers contribute significantly to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Customer retention is important for long-term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 Loyalty programs can increase repeat purchases.</a:t>
            </a:r>
          </a:p>
        </p:txBody>
      </p:sp>
    </p:spTree>
    <p:extLst>
      <p:ext uri="{BB962C8B-B14F-4D97-AF65-F5344CB8AC3E}">
        <p14:creationId xmlns:p14="http://schemas.microsoft.com/office/powerpoint/2010/main" val="266798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478A-F8CB-B987-E5FD-9FD3A10D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cap="none" dirty="0"/>
              <a:t>Region Analysis</a:t>
            </a:r>
            <a:endParaRPr lang="en-IN" sz="6000" cap="non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B2FDE-91B5-DA92-F5B2-AEAA87AEE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5244263" cy="436762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North America East generated the highest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 Regional sales were relatively balanced.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Growth opportunities exist in lower-performing regions.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833E80B-DDFB-39EF-6BFB-78225DA3E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452" y="609601"/>
            <a:ext cx="4822493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13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CC92E9E-A39A-AECF-5551-5E6FD949D1B5}"/>
              </a:ext>
            </a:extLst>
          </p:cNvPr>
          <p:cNvSpPr/>
          <p:nvPr/>
        </p:nvSpPr>
        <p:spPr>
          <a:xfrm>
            <a:off x="2192594" y="2487561"/>
            <a:ext cx="3451122" cy="94143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/>
          </a:p>
          <a:p>
            <a:r>
              <a:rPr lang="en-IN" sz="2400" dirty="0"/>
              <a:t>Technology is the highest-performing category.</a:t>
            </a:r>
          </a:p>
          <a:p>
            <a:endParaRPr lang="en-IN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280C2-D607-F3CD-D740-6D70E1F3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cap="none" dirty="0"/>
              <a:t>Key Findings</a:t>
            </a:r>
            <a:endParaRPr lang="en-IN" sz="7200" cap="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A7AFC2-D671-0D6A-2CDE-ECA573722C08}"/>
              </a:ext>
            </a:extLst>
          </p:cNvPr>
          <p:cNvSpPr/>
          <p:nvPr/>
        </p:nvSpPr>
        <p:spPr>
          <a:xfrm>
            <a:off x="1317523" y="2487561"/>
            <a:ext cx="993058" cy="941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01</a:t>
            </a:r>
            <a:endParaRPr lang="en-IN" sz="4800" dirty="0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5049367-ABD2-B655-D529-A740A12676D9}"/>
              </a:ext>
            </a:extLst>
          </p:cNvPr>
          <p:cNvSpPr/>
          <p:nvPr/>
        </p:nvSpPr>
        <p:spPr>
          <a:xfrm>
            <a:off x="7197213" y="2448233"/>
            <a:ext cx="3850198" cy="94143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/>
              <a:t>North America East generates the highest revenue.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A61ADA5A-451C-4649-4A11-E6F687E121EA}"/>
              </a:ext>
            </a:extLst>
          </p:cNvPr>
          <p:cNvSpPr/>
          <p:nvPr/>
        </p:nvSpPr>
        <p:spPr>
          <a:xfrm>
            <a:off x="2310581" y="4296699"/>
            <a:ext cx="3333135" cy="10323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/>
          </a:p>
          <a:p>
            <a:r>
              <a:rPr lang="en-IN" sz="2400" dirty="0"/>
              <a:t>December is the strongest sales month.</a:t>
            </a:r>
          </a:p>
          <a:p>
            <a:endParaRPr lang="en-IN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E853E2-CE2E-6CF1-9D7B-2B50C6585460}"/>
              </a:ext>
            </a:extLst>
          </p:cNvPr>
          <p:cNvSpPr/>
          <p:nvPr/>
        </p:nvSpPr>
        <p:spPr>
          <a:xfrm>
            <a:off x="6213987" y="2448233"/>
            <a:ext cx="1101213" cy="941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03</a:t>
            </a:r>
            <a:endParaRPr lang="en-IN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2F6C3D-5555-0B1A-1ED9-505863355AC7}"/>
              </a:ext>
            </a:extLst>
          </p:cNvPr>
          <p:cNvSpPr/>
          <p:nvPr/>
        </p:nvSpPr>
        <p:spPr>
          <a:xfrm>
            <a:off x="1332272" y="4296698"/>
            <a:ext cx="1081549" cy="1012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02</a:t>
            </a:r>
            <a:endParaRPr lang="en-IN" sz="6000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5003C0E-AE31-9306-EA3D-2CF9BEAA3734}"/>
              </a:ext>
            </a:extLst>
          </p:cNvPr>
          <p:cNvSpPr/>
          <p:nvPr/>
        </p:nvSpPr>
        <p:spPr>
          <a:xfrm>
            <a:off x="7197214" y="4296698"/>
            <a:ext cx="3850198" cy="103238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Top customers significantly impact overall sales.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D18650-A439-D421-C3E1-418401194DE9}"/>
              </a:ext>
            </a:extLst>
          </p:cNvPr>
          <p:cNvSpPr/>
          <p:nvPr/>
        </p:nvSpPr>
        <p:spPr>
          <a:xfrm>
            <a:off x="6213987" y="4296698"/>
            <a:ext cx="1101213" cy="1032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04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08153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274D-0778-C386-ADD8-7312FCFF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cap="none" dirty="0"/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C0787-CC39-0492-C5D8-8A75278DC450}"/>
              </a:ext>
            </a:extLst>
          </p:cNvPr>
          <p:cNvSpPr txBox="1"/>
          <p:nvPr/>
        </p:nvSpPr>
        <p:spPr>
          <a:xfrm>
            <a:off x="1524000" y="2097088"/>
            <a:ext cx="93111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Recommendation 1</a:t>
            </a:r>
          </a:p>
          <a:p>
            <a:r>
              <a:rPr lang="en-IN" sz="2800" dirty="0"/>
              <a:t>Increase inventory and promotions for Technology products.</a:t>
            </a:r>
          </a:p>
          <a:p>
            <a:r>
              <a:rPr lang="en-IN" sz="2800" b="1" dirty="0"/>
              <a:t>Recommendation 2</a:t>
            </a:r>
          </a:p>
          <a:p>
            <a:r>
              <a:rPr lang="en-IN" sz="2800" dirty="0"/>
              <a:t>Prepare inventory and marketing campaigns before the holiday season.</a:t>
            </a:r>
          </a:p>
          <a:p>
            <a:r>
              <a:rPr lang="en-IN" sz="2800" b="1" dirty="0"/>
              <a:t>Recommendation 3</a:t>
            </a:r>
          </a:p>
          <a:p>
            <a:r>
              <a:rPr lang="en-IN" sz="2800" dirty="0"/>
              <a:t>Strengthen customer loyalty and retention programs.</a:t>
            </a:r>
          </a:p>
          <a:p>
            <a:r>
              <a:rPr lang="en-IN" sz="2800" b="1" dirty="0"/>
              <a:t>Recommendation 4</a:t>
            </a:r>
          </a:p>
          <a:p>
            <a:r>
              <a:rPr lang="en-IN" sz="2800" dirty="0"/>
              <a:t>Expand successful products into lower-performing regions.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5202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6D416-35F7-FC0F-5311-FFA0FD87DCE1}"/>
              </a:ext>
            </a:extLst>
          </p:cNvPr>
          <p:cNvSpPr txBox="1"/>
          <p:nvPr/>
        </p:nvSpPr>
        <p:spPr>
          <a:xfrm>
            <a:off x="2143433" y="2212258"/>
            <a:ext cx="847540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221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141</TotalTime>
  <Words>370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Tw Cen MT</vt:lpstr>
      <vt:lpstr>Circuit</vt:lpstr>
      <vt:lpstr>Retail sales Analysis Dashboard</vt:lpstr>
      <vt:lpstr>Project Overview</vt:lpstr>
      <vt:lpstr>Dashboard Features</vt:lpstr>
      <vt:lpstr>KPI Summary Key Performance Indicators</vt:lpstr>
      <vt:lpstr>Top 5 Insights </vt:lpstr>
      <vt:lpstr>PowerPoint Presentation</vt:lpstr>
      <vt:lpstr>Monthly Sales Trend</vt:lpstr>
      <vt:lpstr> Category Analysis</vt:lpstr>
      <vt:lpstr>Customer Analysis</vt:lpstr>
      <vt:lpstr>Region Analysis</vt:lpstr>
      <vt:lpstr>Key Findings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fathimanaduveeettil@hotmail.com</dc:creator>
  <cp:lastModifiedBy>fathimanaduveeettil@hotmail.com</cp:lastModifiedBy>
  <cp:revision>2</cp:revision>
  <dcterms:created xsi:type="dcterms:W3CDTF">2026-06-24T15:34:16Z</dcterms:created>
  <dcterms:modified xsi:type="dcterms:W3CDTF">2026-06-24T17:58:44Z</dcterms:modified>
</cp:coreProperties>
</file>